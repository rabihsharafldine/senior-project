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6" r:id="rId2"/>
    <p:sldId id="257" r:id="rId3"/>
    <p:sldId id="261" r:id="rId4"/>
    <p:sldId id="258" r:id="rId5"/>
    <p:sldId id="263" r:id="rId6"/>
    <p:sldId id="264" r:id="rId7"/>
    <p:sldId id="265" r:id="rId8"/>
    <p:sldId id="259" r:id="rId9"/>
    <p:sldId id="260" r:id="rId10"/>
    <p:sldId id="262"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12/21/2025</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C1FF6DA9-008F-8B48-92A6-B652298478BF}" type="slidenum">
              <a:rPr lang="en-US" smtClean="0"/>
              <a:t>‹#›</a:t>
            </a:fld>
            <a:endParaRPr lang="en-US"/>
          </a:p>
        </p:txBody>
      </p:sp>
    </p:spTree>
    <p:extLst>
      <p:ext uri="{BB962C8B-B14F-4D97-AF65-F5344CB8AC3E}">
        <p14:creationId xmlns:p14="http://schemas.microsoft.com/office/powerpoint/2010/main" val="161363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36013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5BCAD085-E8A6-8845-BD4E-CB4CCA059FC4}" type="datetimeFigureOut">
              <a:rPr lang="en-US" smtClean="0"/>
              <a:t>12/21/2025</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512717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8948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5695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BCAD085-E8A6-8845-BD4E-CB4CCA059FC4}" type="datetimeFigureOut">
              <a:rPr lang="en-US" smtClean="0"/>
              <a:t>12/21/2025</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3991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1546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5BCAD085-E8A6-8845-BD4E-CB4CCA059FC4}" type="datetimeFigureOut">
              <a:rPr lang="en-US" smtClean="0"/>
              <a:t>12/21/2025</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9592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5BCAD085-E8A6-8845-BD4E-CB4CCA059FC4}" type="datetimeFigureOut">
              <a:rPr lang="en-US" smtClean="0"/>
              <a:t>12/21/2025</a:t>
            </a:fld>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5065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78145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4392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5BCAD085-E8A6-8845-BD4E-CB4CCA059FC4}" type="datetimeFigureOut">
              <a:rPr lang="en-US" smtClean="0"/>
              <a:t>12/21/2025</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021799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13EAF-9E77-40EA-21A3-E76524CCB8AE}"/>
              </a:ext>
            </a:extLst>
          </p:cNvPr>
          <p:cNvSpPr>
            <a:spLocks noGrp="1"/>
          </p:cNvSpPr>
          <p:nvPr>
            <p:ph type="ctrTitle"/>
          </p:nvPr>
        </p:nvSpPr>
        <p:spPr/>
        <p:txBody>
          <a:bodyPr/>
          <a:lstStyle/>
          <a:p>
            <a:pPr algn="ctr"/>
            <a:r>
              <a:rPr lang="en-US" dirty="0"/>
              <a:t>Travel Planner</a:t>
            </a:r>
          </a:p>
        </p:txBody>
      </p:sp>
      <p:sp>
        <p:nvSpPr>
          <p:cNvPr id="3" name="Subtitle 2">
            <a:extLst>
              <a:ext uri="{FF2B5EF4-FFF2-40B4-BE49-F238E27FC236}">
                <a16:creationId xmlns:a16="http://schemas.microsoft.com/office/drawing/2014/main" id="{59170867-D6F5-EC39-C307-8CADA9EC2F75}"/>
              </a:ext>
            </a:extLst>
          </p:cNvPr>
          <p:cNvSpPr>
            <a:spLocks noGrp="1"/>
          </p:cNvSpPr>
          <p:nvPr>
            <p:ph type="subTitle" idx="1"/>
          </p:nvPr>
        </p:nvSpPr>
        <p:spPr/>
        <p:txBody>
          <a:bodyPr/>
          <a:lstStyle/>
          <a:p>
            <a:pPr algn="r"/>
            <a:r>
              <a:rPr lang="en-US" b="1" dirty="0"/>
              <a:t>Name: Rabih </a:t>
            </a:r>
            <a:r>
              <a:rPr lang="en-US" b="1" dirty="0" err="1"/>
              <a:t>Sharafalldien</a:t>
            </a:r>
            <a:endParaRPr lang="en-US" b="1" dirty="0"/>
          </a:p>
          <a:p>
            <a:pPr algn="r"/>
            <a:r>
              <a:rPr lang="en-US" b="1" dirty="0"/>
              <a:t>Instructor: Walid Amer</a:t>
            </a:r>
          </a:p>
        </p:txBody>
      </p:sp>
    </p:spTree>
    <p:extLst>
      <p:ext uri="{BB962C8B-B14F-4D97-AF65-F5344CB8AC3E}">
        <p14:creationId xmlns:p14="http://schemas.microsoft.com/office/powerpoint/2010/main" val="3180066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6000" dirty="0"/>
              <a:t>Introduction</a:t>
            </a:r>
          </a:p>
        </p:txBody>
      </p:sp>
      <p:sp>
        <p:nvSpPr>
          <p:cNvPr id="3" name="Content Placeholder 2"/>
          <p:cNvSpPr>
            <a:spLocks noGrp="1"/>
          </p:cNvSpPr>
          <p:nvPr>
            <p:ph idx="1"/>
          </p:nvPr>
        </p:nvSpPr>
        <p:spPr/>
        <p:txBody>
          <a:bodyPr>
            <a:normAutofit lnSpcReduction="10000"/>
          </a:bodyPr>
          <a:lstStyle/>
          <a:p>
            <a:r>
              <a:rPr lang="en-US" sz="3600" dirty="0"/>
              <a:t>This platform helps users plan their trips easily by combining destinations, accommodations, attractions, events, and transportation in one place. Users can create their own custom trips or choose ready made bundle trips, making travel planning simple, organized, and affordable</a:t>
            </a:r>
            <a:r>
              <a:rPr sz="36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6000" dirty="0"/>
              <a:t>Purpose of the Website</a:t>
            </a:r>
          </a:p>
        </p:txBody>
      </p:sp>
      <p:sp>
        <p:nvSpPr>
          <p:cNvPr id="3" name="Content Placeholder 2"/>
          <p:cNvSpPr>
            <a:spLocks noGrp="1"/>
          </p:cNvSpPr>
          <p:nvPr>
            <p:ph idx="1"/>
          </p:nvPr>
        </p:nvSpPr>
        <p:spPr/>
        <p:txBody>
          <a:bodyPr>
            <a:noAutofit/>
          </a:bodyPr>
          <a:lstStyle/>
          <a:p>
            <a:r>
              <a:rPr sz="3200" dirty="0"/>
              <a:t>The platform simplifies travel planning by offering:</a:t>
            </a:r>
          </a:p>
          <a:p>
            <a:r>
              <a:rPr sz="3200" dirty="0"/>
              <a:t> Flexibility for independent travelers</a:t>
            </a:r>
          </a:p>
          <a:p>
            <a:r>
              <a:rPr sz="3200" dirty="0"/>
              <a:t> Convenience with pre-made packages</a:t>
            </a:r>
          </a:p>
          <a:p>
            <a:r>
              <a:rPr sz="3200" dirty="0"/>
              <a:t> Accurate travel information</a:t>
            </a:r>
          </a:p>
          <a:p>
            <a:r>
              <a:rPr sz="3200" dirty="0"/>
              <a:t> </a:t>
            </a:r>
            <a:r>
              <a:rPr lang="en-US" sz="3200" dirty="0"/>
              <a:t>Wide variety of trips</a:t>
            </a:r>
            <a:endParaRPr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5358"/>
            <a:ext cx="7772400" cy="1609344"/>
          </a:xfrm>
        </p:spPr>
        <p:txBody>
          <a:bodyPr>
            <a:normAutofit/>
          </a:bodyPr>
          <a:lstStyle/>
          <a:p>
            <a:pPr algn="ctr"/>
            <a:r>
              <a:rPr sz="6000" dirty="0"/>
              <a:t>Key Features</a:t>
            </a:r>
          </a:p>
        </p:txBody>
      </p:sp>
      <p:sp>
        <p:nvSpPr>
          <p:cNvPr id="3" name="Content Placeholder 2"/>
          <p:cNvSpPr>
            <a:spLocks noGrp="1"/>
          </p:cNvSpPr>
          <p:nvPr>
            <p:ph idx="1"/>
          </p:nvPr>
        </p:nvSpPr>
        <p:spPr>
          <a:xfrm>
            <a:off x="685800" y="1272321"/>
            <a:ext cx="7772400" cy="4050792"/>
          </a:xfrm>
        </p:spPr>
        <p:txBody>
          <a:bodyPr>
            <a:noAutofit/>
          </a:bodyPr>
          <a:lstStyle/>
          <a:p>
            <a:r>
              <a:rPr sz="3200" dirty="0"/>
              <a:t>• User Accounts &amp; Profiles</a:t>
            </a:r>
          </a:p>
          <a:p>
            <a:r>
              <a:rPr sz="3200" dirty="0"/>
              <a:t>• Destination Explorer</a:t>
            </a:r>
          </a:p>
          <a:p>
            <a:r>
              <a:rPr sz="3200" dirty="0"/>
              <a:t>• Accommodation Search</a:t>
            </a:r>
          </a:p>
          <a:p>
            <a:r>
              <a:rPr sz="3200" dirty="0"/>
              <a:t>• Transport Options</a:t>
            </a:r>
          </a:p>
          <a:p>
            <a:r>
              <a:rPr sz="3200" dirty="0"/>
              <a:t>• Attractions &amp; Events</a:t>
            </a:r>
          </a:p>
          <a:p>
            <a:r>
              <a:rPr sz="3200" dirty="0"/>
              <a:t>• Custom Trip Planner</a:t>
            </a:r>
          </a:p>
          <a:p>
            <a:r>
              <a:rPr sz="3200" dirty="0"/>
              <a:t>• Bundle Trips (</a:t>
            </a:r>
            <a:r>
              <a:rPr lang="en-US" sz="3200" dirty="0"/>
              <a:t>ready made </a:t>
            </a:r>
            <a:r>
              <a:rPr sz="3200" dirty="0"/>
              <a:t>Packages)</a:t>
            </a:r>
            <a:endParaRPr lang="en-US" sz="3200" dirty="0"/>
          </a:p>
          <a:p>
            <a:r>
              <a:rPr lang="en-US" sz="3200" dirty="0"/>
              <a:t>• Bookings – manages user reservations for trips or bundles</a:t>
            </a:r>
            <a:endParaRPr sz="3200" dirty="0"/>
          </a:p>
          <a:p>
            <a:r>
              <a:rPr sz="3200" dirty="0"/>
              <a:t>• Reviews &amp; Ratings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86526-FD1C-4BDF-BDD2-B9BC5B0FCA23}"/>
              </a:ext>
            </a:extLst>
          </p:cNvPr>
          <p:cNvSpPr>
            <a:spLocks noGrp="1"/>
          </p:cNvSpPr>
          <p:nvPr>
            <p:ph type="title"/>
          </p:nvPr>
        </p:nvSpPr>
        <p:spPr>
          <a:xfrm>
            <a:off x="685800" y="0"/>
            <a:ext cx="7772400" cy="1609344"/>
          </a:xfrm>
        </p:spPr>
        <p:txBody>
          <a:bodyPr>
            <a:normAutofit/>
          </a:bodyPr>
          <a:lstStyle/>
          <a:p>
            <a:pPr algn="ctr"/>
            <a:r>
              <a:rPr lang="en-US" sz="6000" dirty="0"/>
              <a:t>Database </a:t>
            </a:r>
            <a:r>
              <a:rPr lang="en-US" sz="6000" dirty="0" err="1"/>
              <a:t>TAbles</a:t>
            </a:r>
            <a:endParaRPr lang="en-US" sz="6000" dirty="0"/>
          </a:p>
        </p:txBody>
      </p:sp>
      <p:sp>
        <p:nvSpPr>
          <p:cNvPr id="3" name="Content Placeholder 2">
            <a:extLst>
              <a:ext uri="{FF2B5EF4-FFF2-40B4-BE49-F238E27FC236}">
                <a16:creationId xmlns:a16="http://schemas.microsoft.com/office/drawing/2014/main" id="{EDBD0AE7-99BD-45A0-84A1-6D0FC2010600}"/>
              </a:ext>
            </a:extLst>
          </p:cNvPr>
          <p:cNvSpPr>
            <a:spLocks noGrp="1"/>
          </p:cNvSpPr>
          <p:nvPr>
            <p:ph idx="1"/>
          </p:nvPr>
        </p:nvSpPr>
        <p:spPr>
          <a:xfrm>
            <a:off x="685800" y="1436815"/>
            <a:ext cx="7772400" cy="6121254"/>
          </a:xfrm>
        </p:spPr>
        <p:txBody>
          <a:bodyPr>
            <a:normAutofit/>
          </a:bodyPr>
          <a:lstStyle/>
          <a:p>
            <a:r>
              <a:rPr lang="en-US" sz="2400" dirty="0"/>
              <a:t>1. Users – stores user info (name, email, password, preferences).</a:t>
            </a:r>
          </a:p>
          <a:p>
            <a:r>
              <a:rPr lang="en-US" sz="2400" dirty="0"/>
              <a:t>2. Flights – shows the available flights for the user </a:t>
            </a:r>
          </a:p>
          <a:p>
            <a:r>
              <a:rPr lang="en-US" sz="2400" dirty="0"/>
              <a:t>3. Reviews – feedback from users about destinations, hotels, transport.</a:t>
            </a:r>
          </a:p>
          <a:p>
            <a:r>
              <a:rPr lang="en-US" sz="2400" dirty="0"/>
              <a:t>4. Destinations – countries/cities the user can visit.</a:t>
            </a:r>
          </a:p>
          <a:p>
            <a:r>
              <a:rPr lang="en-US" sz="2400" dirty="0"/>
              <a:t>5. Accommodation – hotels, hostels, </a:t>
            </a:r>
            <a:r>
              <a:rPr lang="en-US" sz="2400" dirty="0" err="1"/>
              <a:t>Airbnbs</a:t>
            </a:r>
            <a:r>
              <a:rPr lang="en-US" sz="2400" dirty="0"/>
              <a:t> linked to destinations.</a:t>
            </a:r>
          </a:p>
          <a:p>
            <a:r>
              <a:rPr lang="en-US" sz="2400" dirty="0"/>
              <a:t>6. Attractions – landmarks, museums, activities in destinations.</a:t>
            </a:r>
          </a:p>
          <a:p>
            <a:r>
              <a:rPr lang="en-US" sz="2400" dirty="0"/>
              <a:t>7. Events – concerts, festivals, cultural activities in destinations.</a:t>
            </a:r>
          </a:p>
          <a:p>
            <a:r>
              <a:rPr lang="en-US" sz="2400" dirty="0"/>
              <a:t>8. Discount</a:t>
            </a:r>
            <a:endParaRPr lang="en-US" dirty="0"/>
          </a:p>
          <a:p>
            <a:endParaRPr lang="en-US" dirty="0"/>
          </a:p>
          <a:p>
            <a:endParaRPr lang="en-US" dirty="0"/>
          </a:p>
        </p:txBody>
      </p:sp>
    </p:spTree>
    <p:extLst>
      <p:ext uri="{BB962C8B-B14F-4D97-AF65-F5344CB8AC3E}">
        <p14:creationId xmlns:p14="http://schemas.microsoft.com/office/powerpoint/2010/main" val="4064143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286C5-74AF-4446-9114-C50340DFF26F}"/>
              </a:ext>
            </a:extLst>
          </p:cNvPr>
          <p:cNvSpPr>
            <a:spLocks noGrp="1"/>
          </p:cNvSpPr>
          <p:nvPr>
            <p:ph type="title"/>
          </p:nvPr>
        </p:nvSpPr>
        <p:spPr>
          <a:xfrm>
            <a:off x="685800" y="14369"/>
            <a:ext cx="7772400" cy="1609344"/>
          </a:xfrm>
        </p:spPr>
        <p:txBody>
          <a:bodyPr>
            <a:normAutofit/>
          </a:bodyPr>
          <a:lstStyle/>
          <a:p>
            <a:pPr algn="ctr"/>
            <a:r>
              <a:rPr lang="en-US" sz="6000" dirty="0"/>
              <a:t>Database </a:t>
            </a:r>
            <a:r>
              <a:rPr lang="en-US" sz="6000" dirty="0" err="1"/>
              <a:t>TAbles</a:t>
            </a:r>
            <a:endParaRPr lang="en-US" sz="6000" dirty="0"/>
          </a:p>
        </p:txBody>
      </p:sp>
      <p:sp>
        <p:nvSpPr>
          <p:cNvPr id="3" name="Content Placeholder 2">
            <a:extLst>
              <a:ext uri="{FF2B5EF4-FFF2-40B4-BE49-F238E27FC236}">
                <a16:creationId xmlns:a16="http://schemas.microsoft.com/office/drawing/2014/main" id="{6C13A658-F85B-4A25-A2D2-EAF8996A7F96}"/>
              </a:ext>
            </a:extLst>
          </p:cNvPr>
          <p:cNvSpPr>
            <a:spLocks noGrp="1"/>
          </p:cNvSpPr>
          <p:nvPr>
            <p:ph idx="1"/>
          </p:nvPr>
        </p:nvSpPr>
        <p:spPr>
          <a:xfrm>
            <a:off x="685800" y="1402522"/>
            <a:ext cx="7772400" cy="5089289"/>
          </a:xfrm>
        </p:spPr>
        <p:txBody>
          <a:bodyPr>
            <a:normAutofit lnSpcReduction="10000"/>
          </a:bodyPr>
          <a:lstStyle/>
          <a:p>
            <a:r>
              <a:rPr lang="en-US" sz="2400" dirty="0"/>
              <a:t>9. Trips – custom trips created by users.</a:t>
            </a:r>
          </a:p>
          <a:p>
            <a:r>
              <a:rPr lang="en-US" sz="2400" dirty="0"/>
              <a:t>10. </a:t>
            </a:r>
            <a:r>
              <a:rPr lang="en-US" sz="2400" dirty="0" err="1"/>
              <a:t>BundleTrips</a:t>
            </a:r>
            <a:r>
              <a:rPr lang="en-US" sz="2400" dirty="0"/>
              <a:t> – main info about ready-made trips.</a:t>
            </a:r>
          </a:p>
          <a:p>
            <a:r>
              <a:rPr lang="en-US" sz="2400" dirty="0"/>
              <a:t>MANY-TO-MANY Relations:</a:t>
            </a:r>
          </a:p>
          <a:p>
            <a:pPr marL="457200" indent="-457200">
              <a:buFont typeface="+mj-lt"/>
              <a:buAutoNum type="arabicPeriod"/>
            </a:pPr>
            <a:r>
              <a:rPr lang="en-US" sz="2400" dirty="0" err="1"/>
              <a:t>BundleDestinations</a:t>
            </a:r>
            <a:r>
              <a:rPr lang="en-US" sz="2400" dirty="0"/>
              <a:t> – destinations linked to a bundle.</a:t>
            </a:r>
          </a:p>
          <a:p>
            <a:pPr marL="457200" indent="-457200">
              <a:buFont typeface="+mj-lt"/>
              <a:buAutoNum type="arabicPeriod"/>
            </a:pPr>
            <a:r>
              <a:rPr lang="en-US" sz="2400" dirty="0" err="1"/>
              <a:t>BundleAccommodation</a:t>
            </a:r>
            <a:r>
              <a:rPr lang="en-US" sz="2400" dirty="0"/>
              <a:t> – hotels linked to a bundle/day.</a:t>
            </a:r>
          </a:p>
          <a:p>
            <a:pPr marL="457200" indent="-457200">
              <a:buFont typeface="+mj-lt"/>
              <a:buAutoNum type="arabicPeriod"/>
            </a:pPr>
            <a:r>
              <a:rPr lang="en-US" sz="2400" dirty="0" err="1"/>
              <a:t>BundleFlights</a:t>
            </a:r>
            <a:r>
              <a:rPr lang="en-US" sz="2400" dirty="0"/>
              <a:t> – flights linked to a bundle/day.</a:t>
            </a:r>
          </a:p>
          <a:p>
            <a:pPr marL="457200" indent="-457200">
              <a:buFont typeface="+mj-lt"/>
              <a:buAutoNum type="arabicPeriod"/>
            </a:pPr>
            <a:r>
              <a:rPr lang="en-US" sz="2400" dirty="0" err="1"/>
              <a:t>BundleAttractions</a:t>
            </a:r>
            <a:r>
              <a:rPr lang="en-US" sz="2400" dirty="0"/>
              <a:t> – attractions linked to a bundle/day.</a:t>
            </a:r>
          </a:p>
          <a:p>
            <a:pPr marL="457200" indent="-457200">
              <a:buFont typeface="+mj-lt"/>
              <a:buAutoNum type="arabicPeriod"/>
            </a:pPr>
            <a:r>
              <a:rPr lang="en-US" sz="2400" dirty="0" err="1"/>
              <a:t>BundleEvents</a:t>
            </a:r>
            <a:r>
              <a:rPr lang="en-US" sz="2400" dirty="0"/>
              <a:t> – events linked to a bundle/day.</a:t>
            </a:r>
          </a:p>
          <a:p>
            <a:pPr marL="457200" indent="-457200">
              <a:buFont typeface="+mj-lt"/>
              <a:buAutoNum type="arabicPeriod"/>
            </a:pPr>
            <a:r>
              <a:rPr lang="en-US" sz="2400" dirty="0"/>
              <a:t>Accommodation-destinations</a:t>
            </a:r>
          </a:p>
          <a:p>
            <a:pPr marL="457200" indent="-457200">
              <a:buFont typeface="+mj-lt"/>
              <a:buAutoNum type="arabicPeriod"/>
            </a:pPr>
            <a:endParaRPr lang="en-US" sz="2400" dirty="0"/>
          </a:p>
          <a:p>
            <a:endParaRPr lang="en-US" dirty="0"/>
          </a:p>
        </p:txBody>
      </p:sp>
    </p:spTree>
    <p:extLst>
      <p:ext uri="{BB962C8B-B14F-4D97-AF65-F5344CB8AC3E}">
        <p14:creationId xmlns:p14="http://schemas.microsoft.com/office/powerpoint/2010/main" val="3821886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A9F6F-C7D6-E539-8EAB-65A2E5D6AF4F}"/>
              </a:ext>
            </a:extLst>
          </p:cNvPr>
          <p:cNvSpPr>
            <a:spLocks noGrp="1"/>
          </p:cNvSpPr>
          <p:nvPr>
            <p:ph type="title"/>
          </p:nvPr>
        </p:nvSpPr>
        <p:spPr>
          <a:xfrm>
            <a:off x="685800" y="243092"/>
            <a:ext cx="7772400" cy="1609344"/>
          </a:xfrm>
        </p:spPr>
        <p:txBody>
          <a:bodyPr>
            <a:normAutofit/>
          </a:bodyPr>
          <a:lstStyle/>
          <a:p>
            <a:pPr algn="ctr"/>
            <a:r>
              <a:rPr lang="en-US" sz="6000" dirty="0"/>
              <a:t>Database </a:t>
            </a:r>
            <a:r>
              <a:rPr lang="en-US" sz="6000" dirty="0" err="1"/>
              <a:t>TAbles</a:t>
            </a:r>
            <a:endParaRPr lang="en-US" sz="6000" dirty="0"/>
          </a:p>
        </p:txBody>
      </p:sp>
      <p:sp>
        <p:nvSpPr>
          <p:cNvPr id="3" name="Content Placeholder 2">
            <a:extLst>
              <a:ext uri="{FF2B5EF4-FFF2-40B4-BE49-F238E27FC236}">
                <a16:creationId xmlns:a16="http://schemas.microsoft.com/office/drawing/2014/main" id="{4F815D87-40D9-2A45-990A-EA1F135D435B}"/>
              </a:ext>
            </a:extLst>
          </p:cNvPr>
          <p:cNvSpPr>
            <a:spLocks noGrp="1"/>
          </p:cNvSpPr>
          <p:nvPr>
            <p:ph idx="1"/>
          </p:nvPr>
        </p:nvSpPr>
        <p:spPr>
          <a:xfrm>
            <a:off x="685800" y="1875221"/>
            <a:ext cx="7772400" cy="4285736"/>
          </a:xfrm>
        </p:spPr>
        <p:txBody>
          <a:bodyPr/>
          <a:lstStyle/>
          <a:p>
            <a:pPr marL="457200" indent="-457200">
              <a:buFont typeface="+mj-lt"/>
              <a:buAutoNum type="arabicPeriod"/>
            </a:pPr>
            <a:r>
              <a:rPr lang="en-US" sz="2400" dirty="0" err="1"/>
              <a:t>Trip_accommodations</a:t>
            </a:r>
            <a:endParaRPr lang="en-US" sz="2400" dirty="0"/>
          </a:p>
          <a:p>
            <a:pPr marL="457200" indent="-457200">
              <a:buFont typeface="+mj-lt"/>
              <a:buAutoNum type="arabicPeriod"/>
            </a:pPr>
            <a:r>
              <a:rPr lang="en-US" sz="2400" dirty="0" err="1"/>
              <a:t>Trip_destinations</a:t>
            </a:r>
            <a:endParaRPr lang="en-US" sz="2400" dirty="0"/>
          </a:p>
          <a:p>
            <a:pPr marL="457200" indent="-457200">
              <a:buFont typeface="+mj-lt"/>
              <a:buAutoNum type="arabicPeriod"/>
            </a:pPr>
            <a:r>
              <a:rPr lang="en-US" sz="2400" dirty="0" err="1"/>
              <a:t>Trip_events</a:t>
            </a:r>
            <a:endParaRPr lang="en-US" sz="2400" dirty="0"/>
          </a:p>
          <a:p>
            <a:pPr marL="457200" indent="-457200">
              <a:buFont typeface="+mj-lt"/>
              <a:buAutoNum type="arabicPeriod"/>
            </a:pPr>
            <a:r>
              <a:rPr lang="en-US" sz="2400" dirty="0" err="1"/>
              <a:t>User_accommodations</a:t>
            </a:r>
            <a:endParaRPr lang="en-US" sz="2400" dirty="0"/>
          </a:p>
          <a:p>
            <a:pPr marL="457200" indent="-457200">
              <a:buFont typeface="+mj-lt"/>
              <a:buAutoNum type="arabicPeriod"/>
            </a:pPr>
            <a:r>
              <a:rPr lang="en-US" sz="2400" dirty="0" err="1"/>
              <a:t>User_destinations</a:t>
            </a:r>
            <a:endParaRPr lang="en-US" sz="2400" dirty="0"/>
          </a:p>
          <a:p>
            <a:pPr marL="457200" indent="-457200">
              <a:buFont typeface="+mj-lt"/>
              <a:buAutoNum type="arabicPeriod"/>
            </a:pPr>
            <a:r>
              <a:rPr lang="en-US" sz="2400" dirty="0" err="1"/>
              <a:t>User_discounts</a:t>
            </a:r>
            <a:endParaRPr lang="en-US" sz="2400" dirty="0"/>
          </a:p>
          <a:p>
            <a:pPr marL="457200" indent="-457200">
              <a:buFont typeface="+mj-lt"/>
              <a:buAutoNum type="arabicPeriod"/>
            </a:pPr>
            <a:r>
              <a:rPr lang="en-US" sz="2400" dirty="0" err="1"/>
              <a:t>User_events</a:t>
            </a:r>
            <a:endParaRPr lang="en-US" sz="2400" dirty="0"/>
          </a:p>
          <a:p>
            <a:pPr marL="457200" indent="-457200">
              <a:buFont typeface="+mj-lt"/>
              <a:buAutoNum type="arabicPeriod"/>
            </a:pPr>
            <a:r>
              <a:rPr lang="en-US" sz="2400" dirty="0" err="1"/>
              <a:t>User_flight</a:t>
            </a:r>
            <a:endParaRPr lang="en-US" sz="2400" dirty="0"/>
          </a:p>
          <a:p>
            <a:pPr marL="457200" indent="-457200">
              <a:buFont typeface="+mj-lt"/>
              <a:buAutoNum type="arabicPeriod"/>
            </a:pPr>
            <a:endParaRPr lang="en-US" dirty="0"/>
          </a:p>
          <a:p>
            <a:pPr marL="457200" indent="-457200">
              <a:buFont typeface="+mj-lt"/>
              <a:buAutoNum type="arabicPeriod"/>
            </a:pPr>
            <a:endParaRPr lang="en-US" dirty="0"/>
          </a:p>
        </p:txBody>
      </p:sp>
    </p:spTree>
    <p:extLst>
      <p:ext uri="{BB962C8B-B14F-4D97-AF65-F5344CB8AC3E}">
        <p14:creationId xmlns:p14="http://schemas.microsoft.com/office/powerpoint/2010/main" val="2604350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800" dirty="0"/>
              <a:t>Normal Trips (Custom Planner)</a:t>
            </a:r>
          </a:p>
        </p:txBody>
      </p:sp>
      <p:sp>
        <p:nvSpPr>
          <p:cNvPr id="3" name="Content Placeholder 2"/>
          <p:cNvSpPr>
            <a:spLocks noGrp="1"/>
          </p:cNvSpPr>
          <p:nvPr>
            <p:ph idx="1"/>
          </p:nvPr>
        </p:nvSpPr>
        <p:spPr/>
        <p:txBody>
          <a:bodyPr>
            <a:normAutofit/>
          </a:bodyPr>
          <a:lstStyle/>
          <a:p>
            <a:pPr algn="just"/>
            <a:r>
              <a:rPr sz="3200" dirty="0"/>
              <a:t>Users can create personalized trips:</a:t>
            </a:r>
          </a:p>
          <a:p>
            <a:pPr algn="just"/>
            <a:r>
              <a:rPr sz="3200" dirty="0"/>
              <a:t> Choose destinations</a:t>
            </a:r>
          </a:p>
          <a:p>
            <a:pPr algn="just"/>
            <a:r>
              <a:rPr sz="3200" dirty="0"/>
              <a:t> Select accommodations</a:t>
            </a:r>
          </a:p>
          <a:p>
            <a:pPr algn="just"/>
            <a:r>
              <a:rPr sz="3200" dirty="0"/>
              <a:t> Add transport</a:t>
            </a:r>
            <a:endParaRPr lang="en-US" sz="3200" dirty="0"/>
          </a:p>
          <a:p>
            <a:pPr algn="just"/>
            <a:r>
              <a:rPr lang="en-US" sz="3200" dirty="0"/>
              <a:t> Book a trip</a:t>
            </a:r>
            <a:endParaRPr sz="3200" dirty="0"/>
          </a:p>
          <a:p>
            <a:pPr algn="just"/>
            <a:r>
              <a:rPr sz="3200" dirty="0"/>
              <a:t> Calculate total cost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Bundle Trips (Pre-made Packages)</a:t>
            </a:r>
          </a:p>
        </p:txBody>
      </p:sp>
      <p:sp>
        <p:nvSpPr>
          <p:cNvPr id="3" name="Content Placeholder 2"/>
          <p:cNvSpPr>
            <a:spLocks noGrp="1"/>
          </p:cNvSpPr>
          <p:nvPr>
            <p:ph idx="1"/>
          </p:nvPr>
        </p:nvSpPr>
        <p:spPr/>
        <p:txBody>
          <a:bodyPr>
            <a:normAutofit lnSpcReduction="10000"/>
          </a:bodyPr>
          <a:lstStyle/>
          <a:p>
            <a:r>
              <a:rPr sz="3200" dirty="0"/>
              <a:t>All-in-one packages created by admins or agencies:</a:t>
            </a:r>
          </a:p>
          <a:p>
            <a:r>
              <a:rPr sz="3200" dirty="0"/>
              <a:t> Multiple destinations</a:t>
            </a:r>
          </a:p>
          <a:p>
            <a:r>
              <a:rPr sz="3200" dirty="0"/>
              <a:t> Hotels &amp; transport included</a:t>
            </a:r>
          </a:p>
          <a:p>
            <a:r>
              <a:rPr sz="3200" dirty="0"/>
              <a:t> Attractions &amp; events organized by day</a:t>
            </a:r>
          </a:p>
          <a:p>
            <a:r>
              <a:rPr lang="en-US" sz="3200" dirty="0"/>
              <a:t> Example: 5-Day Rome &amp; Florence Tour(includes attending a music concert)</a:t>
            </a:r>
            <a:endParaRPr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6000" dirty="0"/>
              <a:t>Target Users</a:t>
            </a:r>
          </a:p>
        </p:txBody>
      </p:sp>
      <p:sp>
        <p:nvSpPr>
          <p:cNvPr id="3" name="Content Placeholder 2"/>
          <p:cNvSpPr>
            <a:spLocks noGrp="1"/>
          </p:cNvSpPr>
          <p:nvPr>
            <p:ph idx="1"/>
          </p:nvPr>
        </p:nvSpPr>
        <p:spPr/>
        <p:txBody>
          <a:bodyPr/>
          <a:lstStyle/>
          <a:p>
            <a:r>
              <a:rPr sz="3600" dirty="0"/>
              <a:t> Individual Travelers</a:t>
            </a:r>
          </a:p>
          <a:p>
            <a:r>
              <a:rPr lang="en-US" sz="3600" dirty="0"/>
              <a:t> </a:t>
            </a:r>
            <a:r>
              <a:rPr sz="3600" dirty="0"/>
              <a:t>Families planning vacations</a:t>
            </a:r>
          </a:p>
          <a:p>
            <a:r>
              <a:rPr sz="3600" dirty="0"/>
              <a:t> Travel agencies</a:t>
            </a:r>
          </a:p>
          <a:p>
            <a:r>
              <a:rPr sz="3600" dirty="0"/>
              <a:t> Students &amp; professionals seeking organized tours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202</TotalTime>
  <Words>424</Words>
  <Application>Microsoft Office PowerPoint</Application>
  <PresentationFormat>On-screen Show (4:3)</PresentationFormat>
  <Paragraphs>67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Rockwell</vt:lpstr>
      <vt:lpstr>Rockwell Condensed</vt:lpstr>
      <vt:lpstr>Wingdings</vt:lpstr>
      <vt:lpstr>Wood Type</vt:lpstr>
      <vt:lpstr>Travel Planner</vt:lpstr>
      <vt:lpstr>Introduction</vt:lpstr>
      <vt:lpstr>Purpose of the Website</vt:lpstr>
      <vt:lpstr>Key Features</vt:lpstr>
      <vt:lpstr>Database TAbles</vt:lpstr>
      <vt:lpstr>Database TAbles</vt:lpstr>
      <vt:lpstr>Database TAbles</vt:lpstr>
      <vt:lpstr>Normal Trips (Custom Planner)</vt:lpstr>
      <vt:lpstr>Bundle Trips (Pre-made Packages)</vt:lpstr>
      <vt:lpstr>Target Users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Travel Planner</dc:title>
  <dc:subject/>
  <dc:creator/>
  <cp:keywords/>
  <dc:description>generated using python-pptx</dc:description>
  <cp:lastModifiedBy>User</cp:lastModifiedBy>
  <cp:revision>13</cp:revision>
  <dcterms:created xsi:type="dcterms:W3CDTF">2013-01-27T09:14:16Z</dcterms:created>
  <dcterms:modified xsi:type="dcterms:W3CDTF">2025-12-21T13:38:57Z</dcterms:modified>
  <cp:category/>
</cp:coreProperties>
</file>